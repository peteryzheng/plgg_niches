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07171" y="6232637"/>
            <a:ext cx="67361" cy="67361"/>
          </a:xfrm>
          <a:prstGeom prst="ellipse">
            <a:avLst/>
          </a:prstGeom>
          <a:solidFill>
            <a:srgbClr val="A4243B">
              <a:alpha val="41644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52211" y="4313121"/>
            <a:ext cx="70693" cy="70693"/>
          </a:xfrm>
          <a:prstGeom prst="ellipse">
            <a:avLst/>
          </a:prstGeom>
          <a:solidFill>
            <a:srgbClr val="2E5A87">
              <a:alpha val="58734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3104" y="4317574"/>
            <a:ext cx="65097" cy="65097"/>
          </a:xfrm>
          <a:prstGeom prst="ellipse">
            <a:avLst/>
          </a:prstGeom>
          <a:solidFill>
            <a:srgbClr val="8892A6">
              <a:alpha val="41933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2024" y="3989959"/>
            <a:ext cx="95735" cy="95735"/>
          </a:xfrm>
          <a:prstGeom prst="ellipse">
            <a:avLst/>
          </a:prstGeom>
          <a:solidFill>
            <a:srgbClr val="A4243B">
              <a:alpha val="38660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63022" y="6560356"/>
            <a:ext cx="92377" cy="92377"/>
          </a:xfrm>
          <a:prstGeom prst="ellipse">
            <a:avLst/>
          </a:prstGeom>
          <a:solidFill>
            <a:srgbClr val="2E5A87">
              <a:alpha val="70214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8881" y="4769539"/>
            <a:ext cx="56095" cy="56095"/>
          </a:xfrm>
          <a:prstGeom prst="ellipse">
            <a:avLst/>
          </a:prstGeom>
          <a:solidFill>
            <a:srgbClr val="8892A6">
              <a:alpha val="38040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09513" y="4159229"/>
            <a:ext cx="100262" cy="100262"/>
          </a:xfrm>
          <a:prstGeom prst="ellipse">
            <a:avLst/>
          </a:prstGeom>
          <a:solidFill>
            <a:srgbClr val="A4243B">
              <a:alpha val="67985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61429" y="3862940"/>
            <a:ext cx="47513" cy="47513"/>
          </a:xfrm>
          <a:prstGeom prst="ellipse">
            <a:avLst/>
          </a:prstGeom>
          <a:solidFill>
            <a:srgbClr val="2E5A87">
              <a:alpha val="42591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0916" y="5624800"/>
            <a:ext cx="109400" cy="109400"/>
          </a:xfrm>
          <a:prstGeom prst="ellipse">
            <a:avLst/>
          </a:prstGeom>
          <a:solidFill>
            <a:srgbClr val="8892A6">
              <a:alpha val="45506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07866" y="4584115"/>
            <a:ext cx="60054" cy="60054"/>
          </a:xfrm>
          <a:prstGeom prst="ellipse">
            <a:avLst/>
          </a:prstGeom>
          <a:solidFill>
            <a:srgbClr val="A4243B">
              <a:alpha val="72796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11094" y="4665046"/>
            <a:ext cx="124395" cy="124395"/>
          </a:xfrm>
          <a:prstGeom prst="ellipse">
            <a:avLst/>
          </a:prstGeom>
          <a:solidFill>
            <a:srgbClr val="2E5A87">
              <a:alpha val="51206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5341" y="3807426"/>
            <a:ext cx="86417" cy="86417"/>
          </a:xfrm>
          <a:prstGeom prst="ellipse">
            <a:avLst/>
          </a:prstGeom>
          <a:solidFill>
            <a:srgbClr val="8892A6">
              <a:alpha val="55821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4261" y="5586310"/>
            <a:ext cx="63064" cy="63064"/>
          </a:xfrm>
          <a:prstGeom prst="ellipse">
            <a:avLst/>
          </a:prstGeom>
          <a:solidFill>
            <a:srgbClr val="A4243B">
              <a:alpha val="52378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83801" y="4940889"/>
            <a:ext cx="79038" cy="79038"/>
          </a:xfrm>
          <a:prstGeom prst="ellipse">
            <a:avLst/>
          </a:prstGeom>
          <a:solidFill>
            <a:srgbClr val="2E5A87">
              <a:alpha val="55642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3893" y="3672818"/>
            <a:ext cx="122843" cy="122843"/>
          </a:xfrm>
          <a:prstGeom prst="ellipse">
            <a:avLst/>
          </a:prstGeom>
          <a:solidFill>
            <a:srgbClr val="8892A6">
              <a:alpha val="72541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86318" y="4519473"/>
            <a:ext cx="46389" cy="46389"/>
          </a:xfrm>
          <a:prstGeom prst="ellipse">
            <a:avLst/>
          </a:prstGeom>
          <a:solidFill>
            <a:srgbClr val="A4243B">
              <a:alpha val="42468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7860" y="3453529"/>
            <a:ext cx="92448" cy="92448"/>
          </a:xfrm>
          <a:prstGeom prst="ellipse">
            <a:avLst/>
          </a:prstGeom>
          <a:solidFill>
            <a:srgbClr val="2E5A87">
              <a:alpha val="7013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05415" y="4316167"/>
            <a:ext cx="105263" cy="105263"/>
          </a:xfrm>
          <a:prstGeom prst="ellipse">
            <a:avLst/>
          </a:prstGeom>
          <a:solidFill>
            <a:srgbClr val="8892A6">
              <a:alpha val="77143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61639" y="6529424"/>
            <a:ext cx="83594" cy="83594"/>
          </a:xfrm>
          <a:prstGeom prst="ellipse">
            <a:avLst/>
          </a:prstGeom>
          <a:solidFill>
            <a:srgbClr val="A4243B">
              <a:alpha val="77613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98617" y="3894935"/>
            <a:ext cx="47047" cy="47047"/>
          </a:xfrm>
          <a:prstGeom prst="ellipse">
            <a:avLst/>
          </a:prstGeom>
          <a:solidFill>
            <a:srgbClr val="2E5A87">
              <a:alpha val="62190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69197" y="4070907"/>
            <a:ext cx="114874" cy="114874"/>
          </a:xfrm>
          <a:prstGeom prst="ellipse">
            <a:avLst/>
          </a:prstGeom>
          <a:solidFill>
            <a:srgbClr val="8892A6">
              <a:alpha val="40079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3697" y="5936527"/>
            <a:ext cx="113347" cy="113347"/>
          </a:xfrm>
          <a:prstGeom prst="ellipse">
            <a:avLst/>
          </a:prstGeom>
          <a:solidFill>
            <a:srgbClr val="A4243B">
              <a:alpha val="46624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26507" y="4716016"/>
            <a:ext cx="51641" cy="51641"/>
          </a:xfrm>
          <a:prstGeom prst="ellipse">
            <a:avLst/>
          </a:prstGeom>
          <a:solidFill>
            <a:srgbClr val="2E5A87">
              <a:alpha val="52707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620" y="3238441"/>
            <a:ext cx="57395" cy="57395"/>
          </a:xfrm>
          <a:prstGeom prst="ellipse">
            <a:avLst/>
          </a:prstGeom>
          <a:solidFill>
            <a:srgbClr val="8892A6">
              <a:alpha val="57806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9754" y="4823213"/>
            <a:ext cx="75168" cy="75168"/>
          </a:xfrm>
          <a:prstGeom prst="ellipse">
            <a:avLst/>
          </a:prstGeom>
          <a:solidFill>
            <a:srgbClr val="A4243B">
              <a:alpha val="48041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47728" y="6114953"/>
            <a:ext cx="112300" cy="112300"/>
          </a:xfrm>
          <a:prstGeom prst="ellipse">
            <a:avLst/>
          </a:prstGeom>
          <a:solidFill>
            <a:srgbClr val="2E5A87">
              <a:alpha val="50310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63672" y="5795948"/>
            <a:ext cx="52680" cy="52680"/>
          </a:xfrm>
          <a:prstGeom prst="ellipse">
            <a:avLst/>
          </a:prstGeom>
          <a:solidFill>
            <a:srgbClr val="8892A6">
              <a:alpha val="51984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62289" y="6035463"/>
            <a:ext cx="94243" cy="94243"/>
          </a:xfrm>
          <a:prstGeom prst="ellipse">
            <a:avLst/>
          </a:prstGeom>
          <a:solidFill>
            <a:srgbClr val="A4243B">
              <a:alpha val="52744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7499" y="5379090"/>
            <a:ext cx="79045" cy="79045"/>
          </a:xfrm>
          <a:prstGeom prst="ellipse">
            <a:avLst/>
          </a:prstGeom>
          <a:solidFill>
            <a:srgbClr val="2E5A87">
              <a:alpha val="39658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19690" y="6368759"/>
            <a:ext cx="56153" cy="56153"/>
          </a:xfrm>
          <a:prstGeom prst="ellipse">
            <a:avLst/>
          </a:prstGeom>
          <a:solidFill>
            <a:srgbClr val="8892A6">
              <a:alpha val="55676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85886" y="5536608"/>
            <a:ext cx="114931" cy="114931"/>
          </a:xfrm>
          <a:prstGeom prst="ellipse">
            <a:avLst/>
          </a:prstGeom>
          <a:solidFill>
            <a:srgbClr val="A4243B">
              <a:alpha val="63852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85765" y="4618195"/>
            <a:ext cx="116301" cy="116301"/>
          </a:xfrm>
          <a:prstGeom prst="ellipse">
            <a:avLst/>
          </a:prstGeom>
          <a:solidFill>
            <a:srgbClr val="2E5A87">
              <a:alpha val="4772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93668" y="5505780"/>
            <a:ext cx="107018" cy="107018"/>
          </a:xfrm>
          <a:prstGeom prst="ellipse">
            <a:avLst/>
          </a:prstGeom>
          <a:solidFill>
            <a:srgbClr val="8892A6">
              <a:alpha val="58241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12255" y="6491972"/>
            <a:ext cx="116618" cy="116618"/>
          </a:xfrm>
          <a:prstGeom prst="ellipse">
            <a:avLst/>
          </a:prstGeom>
          <a:solidFill>
            <a:srgbClr val="A4243B">
              <a:alpha val="60477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28433" y="6077771"/>
            <a:ext cx="66582" cy="66582"/>
          </a:xfrm>
          <a:prstGeom prst="ellipse">
            <a:avLst/>
          </a:prstGeom>
          <a:solidFill>
            <a:srgbClr val="2E5A87">
              <a:alpha val="44323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27260" y="3281505"/>
            <a:ext cx="78136" cy="78136"/>
          </a:xfrm>
          <a:prstGeom prst="ellipse">
            <a:avLst/>
          </a:prstGeom>
          <a:solidFill>
            <a:srgbClr val="8892A6">
              <a:alpha val="52399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15" y="6202775"/>
            <a:ext cx="110451" cy="110451"/>
          </a:xfrm>
          <a:prstGeom prst="ellipse">
            <a:avLst/>
          </a:prstGeom>
          <a:solidFill>
            <a:srgbClr val="A4243B">
              <a:alpha val="58848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49719" y="6184681"/>
            <a:ext cx="87519" cy="87519"/>
          </a:xfrm>
          <a:prstGeom prst="ellipse">
            <a:avLst/>
          </a:prstGeom>
          <a:solidFill>
            <a:srgbClr val="2E5A87">
              <a:alpha val="49550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617052" y="4811432"/>
            <a:ext cx="115082" cy="115082"/>
          </a:xfrm>
          <a:prstGeom prst="ellipse">
            <a:avLst/>
          </a:prstGeom>
          <a:solidFill>
            <a:srgbClr val="8892A6">
              <a:alpha val="51831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31928" y="3327137"/>
            <a:ext cx="65972" cy="65972"/>
          </a:xfrm>
          <a:prstGeom prst="ellipse">
            <a:avLst/>
          </a:prstGeom>
          <a:solidFill>
            <a:srgbClr val="A4243B">
              <a:alpha val="66274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37632" y="4967876"/>
            <a:ext cx="106340" cy="106340"/>
          </a:xfrm>
          <a:prstGeom prst="ellipse">
            <a:avLst/>
          </a:prstGeom>
          <a:solidFill>
            <a:srgbClr val="2E5A87">
              <a:alpha val="52755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07750" y="5133989"/>
            <a:ext cx="108534" cy="108534"/>
          </a:xfrm>
          <a:prstGeom prst="ellipse">
            <a:avLst/>
          </a:prstGeom>
          <a:solidFill>
            <a:srgbClr val="8892A6">
              <a:alpha val="54513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07110" y="5099771"/>
            <a:ext cx="115684" cy="115684"/>
          </a:xfrm>
          <a:prstGeom prst="ellipse">
            <a:avLst/>
          </a:prstGeom>
          <a:solidFill>
            <a:srgbClr val="A4243B">
              <a:alpha val="57680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19807" y="5835977"/>
            <a:ext cx="63913" cy="63913"/>
          </a:xfrm>
          <a:prstGeom prst="ellipse">
            <a:avLst/>
          </a:prstGeom>
          <a:solidFill>
            <a:srgbClr val="2E5A87">
              <a:alpha val="71710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37327" y="6287705"/>
            <a:ext cx="67279" cy="67279"/>
          </a:xfrm>
          <a:prstGeom prst="ellipse">
            <a:avLst/>
          </a:prstGeom>
          <a:solidFill>
            <a:srgbClr val="8892A6">
              <a:alpha val="62560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55498" y="4280610"/>
            <a:ext cx="125913" cy="125913"/>
          </a:xfrm>
          <a:prstGeom prst="ellipse">
            <a:avLst/>
          </a:prstGeom>
          <a:solidFill>
            <a:srgbClr val="A4243B">
              <a:alpha val="40252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32763" y="3805901"/>
            <a:ext cx="95429" cy="95429"/>
          </a:xfrm>
          <a:prstGeom prst="ellipse">
            <a:avLst/>
          </a:prstGeom>
          <a:solidFill>
            <a:srgbClr val="2E5A87">
              <a:alpha val="75643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53095" y="4923750"/>
            <a:ext cx="100343" cy="100343"/>
          </a:xfrm>
          <a:prstGeom prst="ellipse">
            <a:avLst/>
          </a:prstGeom>
          <a:solidFill>
            <a:srgbClr val="8892A6">
              <a:alpha val="46806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6540" y="3378010"/>
            <a:ext cx="117349" cy="117349"/>
          </a:xfrm>
          <a:prstGeom prst="ellipse">
            <a:avLst/>
          </a:prstGeom>
          <a:solidFill>
            <a:srgbClr val="A4243B">
              <a:alpha val="61950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32948" y="4765542"/>
            <a:ext cx="62549" cy="62549"/>
          </a:xfrm>
          <a:prstGeom prst="ellipse">
            <a:avLst/>
          </a:prstGeom>
          <a:solidFill>
            <a:srgbClr val="2E5A87">
              <a:alpha val="52840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84139" y="4045767"/>
            <a:ext cx="90482" cy="90482"/>
          </a:xfrm>
          <a:prstGeom prst="ellipse">
            <a:avLst/>
          </a:prstGeom>
          <a:solidFill>
            <a:srgbClr val="8892A6">
              <a:alpha val="40254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3107" y="4772403"/>
            <a:ext cx="104723" cy="104723"/>
          </a:xfrm>
          <a:prstGeom prst="ellipse">
            <a:avLst/>
          </a:prstGeom>
          <a:solidFill>
            <a:srgbClr val="A4243B">
              <a:alpha val="67152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210312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Architecture of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Pediatric Brain Tumors</a:t>
            </a:r>
            <a:endParaRPr lang="en-US" sz="4800" dirty="0"/>
          </a:p>
        </p:txBody>
      </p:sp>
      <p:sp>
        <p:nvSpPr>
          <p:cNvPr id="55" name="Text 53"/>
          <p:cNvSpPr/>
          <p:nvPr/>
        </p:nvSpPr>
        <p:spPr>
          <a:xfrm>
            <a:off x="731520" y="5029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Youyun Zheng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Beroukhim Lab · Dana-Farber Cancer Institute / Broad Institute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Pediatric brain tumors are spatially structured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Pilocytic astrocytoma is biphasic — dense compact-fibrillary tissue abuts loose myxoid tissue (H&amp;E, right).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these tumors cells are arranged, not mixed — glia, neurons, and immune cells hold distinct neighborhoods.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and dissociated single-cell assays discard that arrangement; in-situ transcriptomics preserves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059168" y="1572768"/>
            <a:ext cx="4261104" cy="4261104"/>
          </a:xfrm>
          <a:prstGeom prst="roundRect">
            <a:avLst>
              <a:gd name="adj" fmla="val 644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pic>
        <p:nvPicPr>
          <p:cNvPr id="5" name="Image 0" descr="/Users/youyun/plgg_deck/assets/pa_biphasic_slide_ann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00200"/>
            <a:ext cx="4206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5943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Pilocytic astrocytoma H&amp;E — green = compact fibrillary, blue = loose myxoid (pathologist-annotated).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cohort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3504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5196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306824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histologies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010144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brain panel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"/>
                <a:gridCol w="5148072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alteration(s)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Pilocytic astrocytoma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KIAA1549::BRAF, FAM131B::BRAF, RAF1::TOP2B, FGFR1-ITD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Cerebellum / temporal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Ganglioglioma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BRAF-V600E, FGFR1-ITD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neurocytoma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Intraventricular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Cerebellar liponeurocytoma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Cerebellum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10x Xenium Human Brain panel (266 genes).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tumor histologies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847088"/>
            <a:ext cx="2670048" cy="267004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pic>
        <p:nvPicPr>
          <p:cNvPr id="4" name="Image 0" descr="/Users/youyun/plgg_deck/assets/thumb_P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2615184" cy="2615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99432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Pilocytic astrocytoma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239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1 · biphasic · BRAF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46704" y="1847088"/>
            <a:ext cx="2670048" cy="267004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pic>
        <p:nvPicPr>
          <p:cNvPr id="8" name="Image 1" descr="/Users/youyun/plgg_deck/assets/thumb_G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874520"/>
            <a:ext cx="2615184" cy="2615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4136" y="4599432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Ganglioglioma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374136" y="5239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1 · neurons + glia · BRAF-V600E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847088"/>
            <a:ext cx="2670048" cy="267004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pic>
        <p:nvPicPr>
          <p:cNvPr id="12" name="Image 2" descr="/Users/youyun/plgg_deck/assets/thumb_C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74520"/>
            <a:ext cx="2615184" cy="2615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9632" y="4599432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neurocytoma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199632" y="5239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 · intraventricular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97696" y="1847088"/>
            <a:ext cx="2670048" cy="2670048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pic>
        <p:nvPicPr>
          <p:cNvPr id="16" name="Image 3" descr="/Users/youyun/plgg_deck/assets/thumb_CL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1874520"/>
            <a:ext cx="2615184" cy="2615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25128" y="4599432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Cerebellar liponeurocytoma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025128" y="5239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 · lipidized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057400" y="1764792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cell types and spatial niches build each tumor?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7296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57400" y="324612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those spatial niches match what a pathologist sees?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4654296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057400" y="4727448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PA, how does MAPK activation shape glial–immune interaction?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resegmentation, feeding three analyses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5727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Xenium segmentation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14600" y="1938528"/>
            <a:ext cx="0" cy="310896"/>
          </a:xfrm>
          <a:prstGeom prst="line">
            <a:avLst/>
          </a:prstGeom>
          <a:noFill/>
          <a:ln w="25400">
            <a:solidFill>
              <a:srgbClr val="2E5A8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" y="2304288"/>
            <a:ext cx="4114800" cy="3611880"/>
          </a:xfrm>
          <a:prstGeom prst="roundRect">
            <a:avLst>
              <a:gd name="adj" fmla="val 1519"/>
            </a:avLst>
          </a:prstGeom>
          <a:solidFill>
            <a:srgbClr val="FBF2F3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32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ProSeg — resegment cells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9982" y="3088723"/>
            <a:ext cx="1052310" cy="1052310"/>
          </a:xfrm>
          <a:prstGeom prst="ellipse">
            <a:avLst/>
          </a:prstGeom>
          <a:solidFill>
            <a:srgbClr val="E2E5EA">
              <a:alpha val="75000"/>
            </a:srgbClr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1983" y="3030262"/>
            <a:ext cx="1052310" cy="1052310"/>
          </a:xfrm>
          <a:prstGeom prst="ellipse">
            <a:avLst/>
          </a:prstGeom>
          <a:solidFill>
            <a:srgbClr val="E2E5EA">
              <a:alpha val="75000"/>
            </a:srgbClr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1059" y="3755186"/>
            <a:ext cx="1052310" cy="1052310"/>
          </a:xfrm>
          <a:prstGeom prst="ellipse">
            <a:avLst/>
          </a:prstGeom>
          <a:solidFill>
            <a:srgbClr val="E2E5EA">
              <a:alpha val="75000"/>
            </a:srgbClr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675" y="3556416"/>
            <a:ext cx="116923" cy="116923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9676" y="3497955"/>
            <a:ext cx="116923" cy="116923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8753" y="4222879"/>
            <a:ext cx="116923" cy="116923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5521" y="3416108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09675" y="3462878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5828" y="3837032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3214" y="3743494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0907" y="3345954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5061" y="3392724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87830" y="3696724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1831" y="3649955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73368" y="4094263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0753" y="4117648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3522" y="4445033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7522" y="4374879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0445" y="3556416"/>
            <a:ext cx="93539" cy="93539"/>
          </a:xfrm>
          <a:prstGeom prst="ellipse">
            <a:avLst/>
          </a:prstGeom>
          <a:solidFill>
            <a:srgbClr val="C98A2B"/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0753" y="3977340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3060" y="4000725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6292" y="4069080"/>
            <a:ext cx="356616" cy="0"/>
          </a:xfrm>
          <a:prstGeom prst="line">
            <a:avLst/>
          </a:prstGeom>
          <a:noFill/>
          <a:ln w="25400">
            <a:solidFill>
              <a:srgbClr val="2E5A8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rot="-1080000">
            <a:off x="2903370" y="3369339"/>
            <a:ext cx="748309" cy="537847"/>
          </a:xfrm>
          <a:prstGeom prst="ellipse">
            <a:avLst/>
          </a:prstGeom>
          <a:solidFill>
            <a:srgbClr val="DCE7F2">
              <a:alpha val="85000"/>
            </a:srgbClr>
          </a:solidFill>
          <a:ln w="15875">
            <a:solidFill>
              <a:srgbClr val="2E5A8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840000">
            <a:off x="3838756" y="3299185"/>
            <a:ext cx="701540" cy="514462"/>
          </a:xfrm>
          <a:prstGeom prst="ellipse">
            <a:avLst/>
          </a:prstGeom>
          <a:solidFill>
            <a:srgbClr val="DCE7F2">
              <a:alpha val="85000"/>
            </a:srgbClr>
          </a:solidFill>
          <a:ln w="15875">
            <a:solidFill>
              <a:srgbClr val="2E5A8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480000">
            <a:off x="3394448" y="4024110"/>
            <a:ext cx="748309" cy="561232"/>
          </a:xfrm>
          <a:prstGeom prst="ellipse">
            <a:avLst/>
          </a:prstGeom>
          <a:solidFill>
            <a:srgbClr val="DCE7F2">
              <a:alpha val="85000"/>
            </a:srgbClr>
          </a:solidFill>
          <a:ln w="15875">
            <a:solidFill>
              <a:srgbClr val="2E5A8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9063" y="3556416"/>
            <a:ext cx="116923" cy="116923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1064" y="3497955"/>
            <a:ext cx="116923" cy="116923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0141" y="4222879"/>
            <a:ext cx="116923" cy="116923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96909" y="3416108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1063" y="3462878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37216" y="3837032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64602" y="3743494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2295" y="3345954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06449" y="3392724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49218" y="3696724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53219" y="3649955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34756" y="4094263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62141" y="4117648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04910" y="4445033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08910" y="4374879"/>
            <a:ext cx="93539" cy="93539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1833" y="3556416"/>
            <a:ext cx="93539" cy="93539"/>
          </a:xfrm>
          <a:prstGeom prst="ellipse">
            <a:avLst/>
          </a:prstGeom>
          <a:solidFill>
            <a:srgbClr val="C98A2B"/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62141" y="3977340"/>
            <a:ext cx="93539" cy="93539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94448" y="4000725"/>
            <a:ext cx="93539" cy="93539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376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segmentation was poor → shape cells to their transcripts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 flipV="1">
            <a:off x="4572000" y="2313432"/>
            <a:ext cx="438912" cy="1792224"/>
          </a:xfrm>
          <a:prstGeom prst="line">
            <a:avLst/>
          </a:prstGeom>
          <a:noFill/>
          <a:ln w="19050">
            <a:solidFill>
              <a:srgbClr val="2E5A8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029200" y="1572768"/>
            <a:ext cx="6675120" cy="1481328"/>
          </a:xfrm>
          <a:prstGeom prst="roundRect">
            <a:avLst>
              <a:gd name="adj" fmla="val 3704"/>
            </a:avLst>
          </a:prstGeom>
          <a:solidFill>
            <a:srgbClr val="F3F5F8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72255" y="186987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2255" y="2252783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72255" y="263568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47004" y="186987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47004" y="2252783"/>
            <a:ext cx="90665" cy="90665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47004" y="263568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1753" y="186987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1753" y="2252783"/>
            <a:ext cx="90665" cy="90665"/>
          </a:xfrm>
          <a:prstGeom prst="ellipse">
            <a:avLst/>
          </a:prstGeom>
          <a:solidFill>
            <a:srgbClr val="C98A2B"/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1753" y="263568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6502" y="186987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96502" y="2252783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96502" y="263568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71251" y="186987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71251" y="2252783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71251" y="2635688"/>
            <a:ext cx="90665" cy="90665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46000" y="186987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46000" y="2252783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46000" y="2635688"/>
            <a:ext cx="90665" cy="90665"/>
          </a:xfrm>
          <a:prstGeom prst="ellipse">
            <a:avLst/>
          </a:prstGeom>
          <a:solidFill>
            <a:srgbClr val="C98A2B"/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20749" y="1869878"/>
            <a:ext cx="90665" cy="90665"/>
          </a:xfrm>
          <a:prstGeom prst="ellipse">
            <a:avLst/>
          </a:prstGeom>
          <a:solidFill>
            <a:srgbClr val="A4243B"/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20749" y="2252783"/>
            <a:ext cx="90665" cy="90665"/>
          </a:xfrm>
          <a:prstGeom prst="ellipse">
            <a:avLst/>
          </a:prstGeom>
          <a:solidFill>
            <a:srgbClr val="2E5A87"/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20749" y="263568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95498" y="186987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95498" y="2252783"/>
            <a:ext cx="90665" cy="90665"/>
          </a:xfrm>
          <a:prstGeom prst="ellipse">
            <a:avLst/>
          </a:prstGeom>
          <a:solidFill>
            <a:srgbClr val="C98A2B"/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95498" y="2635688"/>
            <a:ext cx="90665" cy="90665"/>
          </a:xfrm>
          <a:prstGeom prst="ellipse">
            <a:avLst/>
          </a:prstGeom>
          <a:solidFill>
            <a:srgbClr val="2C7A4B"/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77494" y="1754391"/>
            <a:ext cx="604434" cy="704545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1F2A44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6801741" y="2137296"/>
            <a:ext cx="604434" cy="704545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1F2A44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7551239" y="1754391"/>
            <a:ext cx="604434" cy="704545"/>
          </a:xfrm>
          <a:prstGeom prst="ellipse">
            <a:avLst/>
          </a:prstGeom>
          <a:solidFill>
            <a:srgbClr val="FFFFFF">
              <a:alpha val="0"/>
            </a:srgbClr>
          </a:solidFill>
          <a:ln w="17780">
            <a:solidFill>
              <a:srgbClr val="1F2A44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8915400" y="1572768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BANKSY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spatial niches — recurrent local neighborhoods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 flipV="1">
            <a:off x="4572000" y="3995928"/>
            <a:ext cx="438912" cy="109728"/>
          </a:xfrm>
          <a:prstGeom prst="line">
            <a:avLst/>
          </a:prstGeom>
          <a:noFill/>
          <a:ln w="19050">
            <a:solidFill>
              <a:srgbClr val="2E5A87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5029200" y="3255264"/>
            <a:ext cx="6675120" cy="1481328"/>
          </a:xfrm>
          <a:prstGeom prst="roundRect">
            <a:avLst>
              <a:gd name="adj" fmla="val 3704"/>
            </a:avLst>
          </a:prstGeom>
          <a:solidFill>
            <a:srgbClr val="F3F5F8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19065" y="3490265"/>
            <a:ext cx="142646" cy="114117"/>
          </a:xfrm>
          <a:prstGeom prst="rect">
            <a:avLst/>
          </a:prstGeom>
          <a:solidFill>
            <a:srgbClr val="A4243B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19065" y="3640044"/>
            <a:ext cx="142646" cy="114117"/>
          </a:xfrm>
          <a:prstGeom prst="rect">
            <a:avLst/>
          </a:prstGeom>
          <a:solidFill>
            <a:srgbClr val="A4243B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19065" y="3789822"/>
            <a:ext cx="142646" cy="114117"/>
          </a:xfrm>
          <a:prstGeom prst="rect">
            <a:avLst/>
          </a:prstGeom>
          <a:solidFill>
            <a:srgbClr val="A4243B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19065" y="3939601"/>
            <a:ext cx="142646" cy="114117"/>
          </a:xfrm>
          <a:prstGeom prst="rect">
            <a:avLst/>
          </a:prstGeom>
          <a:solidFill>
            <a:srgbClr val="A4243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97373" y="3490265"/>
            <a:ext cx="142646" cy="114117"/>
          </a:xfrm>
          <a:prstGeom prst="rect">
            <a:avLst/>
          </a:prstGeom>
          <a:solidFill>
            <a:srgbClr val="2E5A87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97373" y="3640044"/>
            <a:ext cx="142646" cy="114117"/>
          </a:xfrm>
          <a:prstGeom prst="rect">
            <a:avLst/>
          </a:prstGeom>
          <a:solidFill>
            <a:srgbClr val="2E5A87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97373" y="3789822"/>
            <a:ext cx="142646" cy="114117"/>
          </a:xfrm>
          <a:prstGeom prst="rect">
            <a:avLst/>
          </a:prstGeom>
          <a:solidFill>
            <a:srgbClr val="2E5A87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97373" y="3939601"/>
            <a:ext cx="142646" cy="114117"/>
          </a:xfrm>
          <a:prstGeom prst="rect">
            <a:avLst/>
          </a:prstGeom>
          <a:solidFill>
            <a:srgbClr val="2E5A87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75681" y="3490265"/>
            <a:ext cx="142646" cy="114117"/>
          </a:xfrm>
          <a:prstGeom prst="rect">
            <a:avLst/>
          </a:prstGeom>
          <a:solidFill>
            <a:srgbClr val="2C7A4B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75681" y="3640044"/>
            <a:ext cx="142646" cy="114117"/>
          </a:xfrm>
          <a:prstGeom prst="rect">
            <a:avLst/>
          </a:prstGeom>
          <a:solidFill>
            <a:srgbClr val="2C7A4B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75681" y="3789822"/>
            <a:ext cx="142646" cy="114117"/>
          </a:xfrm>
          <a:prstGeom prst="rect">
            <a:avLst/>
          </a:prstGeom>
          <a:solidFill>
            <a:srgbClr val="2C7A4B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75681" y="3939601"/>
            <a:ext cx="142646" cy="114117"/>
          </a:xfrm>
          <a:prstGeom prst="rect">
            <a:avLst/>
          </a:prstGeom>
          <a:solidFill>
            <a:srgbClr val="2C7A4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74943" y="3825484"/>
            <a:ext cx="427939" cy="0"/>
          </a:xfrm>
          <a:prstGeom prst="line">
            <a:avLst/>
          </a:prstGeom>
          <a:noFill/>
          <a:ln w="25400">
            <a:solidFill>
              <a:srgbClr val="2E5A87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745529" y="3490265"/>
            <a:ext cx="142646" cy="114117"/>
          </a:xfrm>
          <a:prstGeom prst="rect">
            <a:avLst/>
          </a:prstGeom>
          <a:solidFill>
            <a:srgbClr val="A4243B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45529" y="3640044"/>
            <a:ext cx="142646" cy="114117"/>
          </a:xfrm>
          <a:prstGeom prst="rect">
            <a:avLst/>
          </a:prstGeom>
          <a:solidFill>
            <a:srgbClr val="A4243B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45529" y="3789822"/>
            <a:ext cx="142646" cy="114117"/>
          </a:xfrm>
          <a:prstGeom prst="rect">
            <a:avLst/>
          </a:prstGeom>
          <a:solidFill>
            <a:srgbClr val="A4243B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745529" y="3939601"/>
            <a:ext cx="142646" cy="114117"/>
          </a:xfrm>
          <a:prstGeom prst="rect">
            <a:avLst/>
          </a:prstGeom>
          <a:solidFill>
            <a:srgbClr val="A4243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23837" y="3490265"/>
            <a:ext cx="142646" cy="114117"/>
          </a:xfrm>
          <a:prstGeom prst="rect">
            <a:avLst/>
          </a:prstGeom>
          <a:solidFill>
            <a:srgbClr val="2E5A87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23837" y="3640044"/>
            <a:ext cx="142646" cy="114117"/>
          </a:xfrm>
          <a:prstGeom prst="rect">
            <a:avLst/>
          </a:prstGeom>
          <a:solidFill>
            <a:srgbClr val="2E5A87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23837" y="3789822"/>
            <a:ext cx="142646" cy="114117"/>
          </a:xfrm>
          <a:prstGeom prst="rect">
            <a:avLst/>
          </a:prstGeom>
          <a:solidFill>
            <a:srgbClr val="2E5A87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23837" y="3939601"/>
            <a:ext cx="142646" cy="114117"/>
          </a:xfrm>
          <a:prstGeom prst="rect">
            <a:avLst/>
          </a:prstGeom>
          <a:solidFill>
            <a:srgbClr val="2E5A87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102145" y="3490265"/>
            <a:ext cx="142646" cy="114117"/>
          </a:xfrm>
          <a:prstGeom prst="rect">
            <a:avLst/>
          </a:prstGeom>
          <a:solidFill>
            <a:srgbClr val="2C7A4B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102145" y="3640044"/>
            <a:ext cx="142646" cy="114117"/>
          </a:xfrm>
          <a:prstGeom prst="rect">
            <a:avLst/>
          </a:prstGeom>
          <a:solidFill>
            <a:srgbClr val="2C7A4B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102145" y="3789822"/>
            <a:ext cx="142646" cy="114117"/>
          </a:xfrm>
          <a:prstGeom prst="rect">
            <a:avLst/>
          </a:prstGeom>
          <a:solidFill>
            <a:srgbClr val="2C7A4B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02145" y="3939601"/>
            <a:ext cx="142646" cy="114117"/>
          </a:xfrm>
          <a:prstGeom prst="rect">
            <a:avLst/>
          </a:prstGeom>
          <a:solidFill>
            <a:srgbClr val="2C7A4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280453" y="3490265"/>
            <a:ext cx="142646" cy="114117"/>
          </a:xfrm>
          <a:prstGeom prst="rect">
            <a:avLst/>
          </a:prstGeom>
          <a:solidFill>
            <a:srgbClr val="C98A2B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80453" y="3640044"/>
            <a:ext cx="142646" cy="114117"/>
          </a:xfrm>
          <a:prstGeom prst="rect">
            <a:avLst/>
          </a:prstGeom>
          <a:solidFill>
            <a:srgbClr val="C98A2B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80453" y="3789822"/>
            <a:ext cx="142646" cy="114117"/>
          </a:xfrm>
          <a:prstGeom prst="rect">
            <a:avLst/>
          </a:prstGeom>
          <a:solidFill>
            <a:srgbClr val="C98A2B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80453" y="3939601"/>
            <a:ext cx="142646" cy="114117"/>
          </a:xfrm>
          <a:prstGeom prst="rect">
            <a:avLst/>
          </a:prstGeom>
          <a:solidFill>
            <a:srgbClr val="C98A2B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58761" y="3490265"/>
            <a:ext cx="142646" cy="114117"/>
          </a:xfrm>
          <a:prstGeom prst="rect">
            <a:avLst/>
          </a:prstGeom>
          <a:solidFill>
            <a:srgbClr val="6D5199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58761" y="3640044"/>
            <a:ext cx="142646" cy="114117"/>
          </a:xfrm>
          <a:prstGeom prst="rect">
            <a:avLst/>
          </a:prstGeom>
          <a:solidFill>
            <a:srgbClr val="6D5199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58761" y="3789822"/>
            <a:ext cx="142646" cy="114117"/>
          </a:xfrm>
          <a:prstGeom prst="rect">
            <a:avLst/>
          </a:prstGeom>
          <a:solidFill>
            <a:srgbClr val="6D5199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58761" y="3939601"/>
            <a:ext cx="142646" cy="114117"/>
          </a:xfrm>
          <a:prstGeom prst="rect">
            <a:avLst/>
          </a:prstGeom>
          <a:solidFill>
            <a:srgbClr val="6D5199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637069" y="3490265"/>
            <a:ext cx="142646" cy="114117"/>
          </a:xfrm>
          <a:prstGeom prst="rect">
            <a:avLst/>
          </a:prstGeom>
          <a:solidFill>
            <a:srgbClr val="1C7293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637069" y="3640044"/>
            <a:ext cx="142646" cy="114117"/>
          </a:xfrm>
          <a:prstGeom prst="rect">
            <a:avLst/>
          </a:prstGeom>
          <a:solidFill>
            <a:srgbClr val="1C7293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37069" y="3789822"/>
            <a:ext cx="142646" cy="114117"/>
          </a:xfrm>
          <a:prstGeom prst="rect">
            <a:avLst/>
          </a:prstGeom>
          <a:solidFill>
            <a:srgbClr val="1C7293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637069" y="3939601"/>
            <a:ext cx="142646" cy="114117"/>
          </a:xfrm>
          <a:prstGeom prst="rect">
            <a:avLst/>
          </a:prstGeom>
          <a:solidFill>
            <a:srgbClr val="1C7293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815377" y="3490265"/>
            <a:ext cx="142646" cy="114117"/>
          </a:xfrm>
          <a:prstGeom prst="rect">
            <a:avLst/>
          </a:prstGeom>
          <a:solidFill>
            <a:srgbClr val="B5651D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815377" y="3640044"/>
            <a:ext cx="142646" cy="114117"/>
          </a:xfrm>
          <a:prstGeom prst="rect">
            <a:avLst/>
          </a:prstGeom>
          <a:solidFill>
            <a:srgbClr val="B5651D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815377" y="3789822"/>
            <a:ext cx="142646" cy="114117"/>
          </a:xfrm>
          <a:prstGeom prst="rect">
            <a:avLst/>
          </a:prstGeom>
          <a:solidFill>
            <a:srgbClr val="B5651D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815377" y="3939601"/>
            <a:ext cx="142646" cy="114117"/>
          </a:xfrm>
          <a:prstGeom prst="rect">
            <a:avLst/>
          </a:prstGeom>
          <a:solidFill>
            <a:srgbClr val="B5651D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993685" y="3490265"/>
            <a:ext cx="142646" cy="114117"/>
          </a:xfrm>
          <a:prstGeom prst="rect">
            <a:avLst/>
          </a:prstGeom>
          <a:solidFill>
            <a:srgbClr val="4C8577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93685" y="3640044"/>
            <a:ext cx="142646" cy="114117"/>
          </a:xfrm>
          <a:prstGeom prst="rect">
            <a:avLst/>
          </a:prstGeom>
          <a:solidFill>
            <a:srgbClr val="4C8577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993685" y="3789822"/>
            <a:ext cx="142646" cy="114117"/>
          </a:xfrm>
          <a:prstGeom prst="rect">
            <a:avLst/>
          </a:prstGeom>
          <a:solidFill>
            <a:srgbClr val="4C8577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993685" y="3939601"/>
            <a:ext cx="142646" cy="114117"/>
          </a:xfrm>
          <a:prstGeom prst="rect">
            <a:avLst/>
          </a:prstGeom>
          <a:solidFill>
            <a:srgbClr val="4C8577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71993" y="3490265"/>
            <a:ext cx="142646" cy="114117"/>
          </a:xfrm>
          <a:prstGeom prst="rect">
            <a:avLst/>
          </a:prstGeom>
          <a:solidFill>
            <a:srgbClr val="8A2846">
              <a:alpha val="8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171993" y="3640044"/>
            <a:ext cx="142646" cy="114117"/>
          </a:xfrm>
          <a:prstGeom prst="rect">
            <a:avLst/>
          </a:prstGeom>
          <a:solidFill>
            <a:srgbClr val="8A2846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171993" y="3789822"/>
            <a:ext cx="142646" cy="114117"/>
          </a:xfrm>
          <a:prstGeom prst="rect">
            <a:avLst/>
          </a:prstGeom>
          <a:solidFill>
            <a:srgbClr val="8A2846">
              <a:alpha val="4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171993" y="3939601"/>
            <a:ext cx="142646" cy="114117"/>
          </a:xfrm>
          <a:prstGeom prst="rect">
            <a:avLst/>
          </a:prstGeom>
          <a:solidFill>
            <a:srgbClr val="8A2846">
              <a:alpha val="7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915400" y="3255264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the whole transcriptome from paired single-cell data</a:t>
            </a:r>
            <a:endParaRPr lang="en-US" sz="1600" dirty="0"/>
          </a:p>
        </p:txBody>
      </p:sp>
      <p:sp>
        <p:nvSpPr>
          <p:cNvPr id="133" name="Shape 131"/>
          <p:cNvSpPr/>
          <p:nvPr/>
        </p:nvSpPr>
        <p:spPr>
          <a:xfrm>
            <a:off x="4572000" y="4105656"/>
            <a:ext cx="438912" cy="1572768"/>
          </a:xfrm>
          <a:prstGeom prst="line">
            <a:avLst/>
          </a:prstGeom>
          <a:noFill/>
          <a:ln w="19050">
            <a:solidFill>
              <a:srgbClr val="2E5A87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5029200" y="4937760"/>
            <a:ext cx="6675120" cy="1481328"/>
          </a:xfrm>
          <a:prstGeom prst="roundRect">
            <a:avLst>
              <a:gd name="adj" fmla="val 3704"/>
            </a:avLst>
          </a:prstGeom>
          <a:solidFill>
            <a:srgbClr val="F3F5F8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2400000">
            <a:off x="5533034" y="5383073"/>
            <a:ext cx="713232" cy="713232"/>
          </a:xfrm>
          <a:prstGeom prst="roundRect">
            <a:avLst>
              <a:gd name="adj" fmla="val 5128"/>
            </a:avLst>
          </a:prstGeom>
          <a:solidFill>
            <a:srgbClr val="F7EEF0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2400000">
            <a:off x="7494422" y="5383073"/>
            <a:ext cx="71323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2E5A8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793598" y="5306314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718411" y="5395918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643224" y="5485522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568037" y="5575127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492850" y="5664731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417664" y="5754335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83202" y="5381501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808015" y="5471105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732829" y="5560709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57642" y="5650314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582455" y="5739918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507268" y="5829522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972807" y="5456688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897620" y="5546292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822433" y="5635896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747246" y="5725501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2059" y="5815105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596872" y="5904709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062411" y="5531875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987224" y="5621479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912037" y="5711083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836850" y="5800687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61663" y="5890292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686476" y="5979896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52015" y="5607062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076828" y="5696666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001641" y="5786270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26454" y="5875874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851267" y="5965479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76081" y="6055083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241619" y="5682248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166432" y="5771853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091246" y="5861457"/>
            <a:ext cx="42794" cy="42794"/>
          </a:xfrm>
          <a:prstGeom prst="ellipse">
            <a:avLst/>
          </a:prstGeom>
          <a:solidFill>
            <a:srgbClr val="A4243B">
              <a:alpha val="80000"/>
            </a:srgbClr>
          </a:solidFill>
          <a:ln w="5080">
            <a:solidFill>
              <a:srgbClr val="A424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016059" y="5951061"/>
            <a:ext cx="42794" cy="42794"/>
          </a:xfrm>
          <a:prstGeom prst="ellipse">
            <a:avLst/>
          </a:prstGeom>
          <a:solidFill>
            <a:srgbClr val="2E5A87">
              <a:alpha val="80000"/>
            </a:srgbClr>
          </a:solidFill>
          <a:ln w="5080">
            <a:solidFill>
              <a:srgbClr val="2E5A87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940872" y="6040665"/>
            <a:ext cx="42794" cy="42794"/>
          </a:xfrm>
          <a:prstGeom prst="ellipse">
            <a:avLst/>
          </a:prstGeom>
          <a:solidFill>
            <a:srgbClr val="2C7A4B">
              <a:alpha val="80000"/>
            </a:srgbClr>
          </a:solidFill>
          <a:ln w="5080">
            <a:solidFill>
              <a:srgbClr val="2C7A4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865685" y="6130270"/>
            <a:ext cx="42794" cy="42794"/>
          </a:xfrm>
          <a:prstGeom prst="ellipse">
            <a:avLst/>
          </a:prstGeom>
          <a:solidFill>
            <a:srgbClr val="C98A2B">
              <a:alpha val="80000"/>
            </a:srgbClr>
          </a:solidFill>
          <a:ln w="5080">
            <a:solidFill>
              <a:srgbClr val="C98A2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756757" y="5468880"/>
            <a:ext cx="128382" cy="12838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718145" y="5468880"/>
            <a:ext cx="128382" cy="12838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996781" y="5782011"/>
            <a:ext cx="128382" cy="12838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958169" y="5782011"/>
            <a:ext cx="128382" cy="12838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726357" y="5815795"/>
            <a:ext cx="128382" cy="12838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687745" y="5815795"/>
            <a:ext cx="128382" cy="12838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A424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813600" y="5205181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774988" y="5205181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845695" y="5237277"/>
            <a:ext cx="19613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6359967" y="5663638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321355" y="5663638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392062" y="5695733"/>
            <a:ext cx="19613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85" name="Shape 183"/>
          <p:cNvSpPr/>
          <p:nvPr/>
        </p:nvSpPr>
        <p:spPr>
          <a:xfrm>
            <a:off x="5355143" y="5751549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16531" y="5751549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387238" y="5783644"/>
            <a:ext cx="19613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5901510" y="6210005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862898" y="6210005"/>
            <a:ext cx="64191" cy="64191"/>
          </a:xfrm>
          <a:prstGeom prst="ellipse">
            <a:avLst/>
          </a:prstGeom>
          <a:solidFill>
            <a:srgbClr val="3A3F4A"/>
          </a:solidFill>
          <a:ln w="5080">
            <a:solidFill>
              <a:srgbClr val="3A3F4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933606" y="6242101"/>
            <a:ext cx="19613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191" name="Text 189"/>
          <p:cNvSpPr/>
          <p:nvPr/>
        </p:nvSpPr>
        <p:spPr>
          <a:xfrm>
            <a:off x="8915400" y="4937760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STalign
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pathologist annotations onto the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28016" cy="128016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5120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TYPING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types across the cohort</a:t>
            </a:r>
            <a:endParaRPr lang="en-US" sz="3400" dirty="0"/>
          </a:p>
        </p:txBody>
      </p:sp>
      <p:pic>
        <p:nvPicPr>
          <p:cNvPr id="5" name="Image 0" descr="/Users/youyun/plgg_deck/assets/fig_celltype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348" y="1691640"/>
            <a:ext cx="10354256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28016" cy="128016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5120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MOTIFS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spatial niches</a:t>
            </a:r>
            <a:endParaRPr lang="en-US" sz="3400" dirty="0"/>
          </a:p>
        </p:txBody>
      </p:sp>
      <p:pic>
        <p:nvPicPr>
          <p:cNvPr id="5" name="Image 0" descr="/Users/youyun/plgg_deck/assets/fig_niche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169" y="1691640"/>
            <a:ext cx="9978613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28016" cy="128016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5120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histology has its own cell-type makeup</a:t>
            </a:r>
            <a:endParaRPr lang="en-US" sz="3400" dirty="0"/>
          </a:p>
        </p:txBody>
      </p:sp>
      <p:pic>
        <p:nvPicPr>
          <p:cNvPr id="5" name="Image 0" descr="/Users/youyun/plgg_deck/assets/fig_celltyp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569" y="1737360"/>
            <a:ext cx="10519815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28016" cy="128016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5120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its own spatial niches</a:t>
            </a:r>
            <a:endParaRPr lang="en-US" sz="3400" dirty="0"/>
          </a:p>
        </p:txBody>
      </p:sp>
      <p:pic>
        <p:nvPicPr>
          <p:cNvPr id="5" name="Image 0" descr="/Users/youyun/plgg_deck/assets/fig_nich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516" y="1737360"/>
            <a:ext cx="8503920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28016" cy="128016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51206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niches are ecosystems of signature cell types</a:t>
            </a:r>
            <a:endParaRPr lang="en-US" sz="3400" dirty="0"/>
          </a:p>
        </p:txBody>
      </p:sp>
      <p:pic>
        <p:nvPicPr>
          <p:cNvPr id="5" name="Image 0" descr="/Users/youyun/plgg_deck/assets/fig_eco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1783080"/>
            <a:ext cx="9153144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90802" y="3123216"/>
            <a:ext cx="67734" cy="67734"/>
          </a:xfrm>
          <a:prstGeom prst="ellipse">
            <a:avLst/>
          </a:prstGeom>
          <a:solidFill>
            <a:srgbClr val="A4243B">
              <a:alpha val="62733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71244" y="3297587"/>
            <a:ext cx="73147" cy="73147"/>
          </a:xfrm>
          <a:prstGeom prst="ellipse">
            <a:avLst/>
          </a:prstGeom>
          <a:solidFill>
            <a:srgbClr val="2E5A87">
              <a:alpha val="78433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6823" y="4842554"/>
            <a:ext cx="98809" cy="98809"/>
          </a:xfrm>
          <a:prstGeom prst="ellipse">
            <a:avLst/>
          </a:prstGeom>
          <a:solidFill>
            <a:srgbClr val="8892A6">
              <a:alpha val="77793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2914" y="5788813"/>
            <a:ext cx="99417" cy="99417"/>
          </a:xfrm>
          <a:prstGeom prst="ellipse">
            <a:avLst/>
          </a:prstGeom>
          <a:solidFill>
            <a:srgbClr val="A4243B">
              <a:alpha val="44591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2600" y="854811"/>
            <a:ext cx="64682" cy="64682"/>
          </a:xfrm>
          <a:prstGeom prst="ellipse">
            <a:avLst/>
          </a:prstGeom>
          <a:solidFill>
            <a:srgbClr val="2E5A87">
              <a:alpha val="41022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0750" y="6013243"/>
            <a:ext cx="95583" cy="95583"/>
          </a:xfrm>
          <a:prstGeom prst="ellipse">
            <a:avLst/>
          </a:prstGeom>
          <a:solidFill>
            <a:srgbClr val="8892A6">
              <a:alpha val="49218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1030" y="3007865"/>
            <a:ext cx="124541" cy="124541"/>
          </a:xfrm>
          <a:prstGeom prst="ellipse">
            <a:avLst/>
          </a:prstGeom>
          <a:solidFill>
            <a:srgbClr val="A4243B">
              <a:alpha val="52335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77108" y="4764546"/>
            <a:ext cx="61047" cy="61047"/>
          </a:xfrm>
          <a:prstGeom prst="ellipse">
            <a:avLst/>
          </a:prstGeom>
          <a:solidFill>
            <a:srgbClr val="2E5A87">
              <a:alpha val="54041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15456" y="3492090"/>
            <a:ext cx="102283" cy="102283"/>
          </a:xfrm>
          <a:prstGeom prst="ellipse">
            <a:avLst/>
          </a:prstGeom>
          <a:solidFill>
            <a:srgbClr val="8892A6">
              <a:alpha val="55063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2109" y="1032614"/>
            <a:ext cx="61903" cy="61903"/>
          </a:xfrm>
          <a:prstGeom prst="ellipse">
            <a:avLst/>
          </a:prstGeom>
          <a:solidFill>
            <a:srgbClr val="A4243B">
              <a:alpha val="42145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8403" y="2668542"/>
            <a:ext cx="96897" cy="96897"/>
          </a:xfrm>
          <a:prstGeom prst="ellipse">
            <a:avLst/>
          </a:prstGeom>
          <a:solidFill>
            <a:srgbClr val="2E5A87">
              <a:alpha val="47820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27114" y="4336834"/>
            <a:ext cx="86776" cy="86776"/>
          </a:xfrm>
          <a:prstGeom prst="ellipse">
            <a:avLst/>
          </a:prstGeom>
          <a:solidFill>
            <a:srgbClr val="8892A6">
              <a:alpha val="52864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24069" y="2548917"/>
            <a:ext cx="57927" cy="57927"/>
          </a:xfrm>
          <a:prstGeom prst="ellipse">
            <a:avLst/>
          </a:prstGeom>
          <a:solidFill>
            <a:srgbClr val="A4243B">
              <a:alpha val="43221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2746" y="3187937"/>
            <a:ext cx="120330" cy="120330"/>
          </a:xfrm>
          <a:prstGeom prst="ellipse">
            <a:avLst/>
          </a:prstGeom>
          <a:solidFill>
            <a:srgbClr val="2E5A87">
              <a:alpha val="70355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2720" y="4901971"/>
            <a:ext cx="78454" cy="78454"/>
          </a:xfrm>
          <a:prstGeom prst="ellipse">
            <a:avLst/>
          </a:prstGeom>
          <a:solidFill>
            <a:srgbClr val="8892A6">
              <a:alpha val="45699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31352" y="4392918"/>
            <a:ext cx="103412" cy="103412"/>
          </a:xfrm>
          <a:prstGeom prst="ellipse">
            <a:avLst/>
          </a:prstGeom>
          <a:solidFill>
            <a:srgbClr val="A4243B">
              <a:alpha val="78532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57489" y="1863854"/>
            <a:ext cx="86727" cy="86727"/>
          </a:xfrm>
          <a:prstGeom prst="ellipse">
            <a:avLst/>
          </a:prstGeom>
          <a:solidFill>
            <a:srgbClr val="2E5A87">
              <a:alpha val="52111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0386" y="445844"/>
            <a:ext cx="81879" cy="81879"/>
          </a:xfrm>
          <a:prstGeom prst="ellipse">
            <a:avLst/>
          </a:prstGeom>
          <a:solidFill>
            <a:srgbClr val="8892A6">
              <a:alpha val="65617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7633" y="3208988"/>
            <a:ext cx="48717" cy="48717"/>
          </a:xfrm>
          <a:prstGeom prst="ellipse">
            <a:avLst/>
          </a:prstGeom>
          <a:solidFill>
            <a:srgbClr val="A4243B">
              <a:alpha val="55618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3356" y="6377153"/>
            <a:ext cx="100129" cy="100129"/>
          </a:xfrm>
          <a:prstGeom prst="ellipse">
            <a:avLst/>
          </a:prstGeom>
          <a:solidFill>
            <a:srgbClr val="2E5A87">
              <a:alpha val="44842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22189" y="1216867"/>
            <a:ext cx="118258" cy="118258"/>
          </a:xfrm>
          <a:prstGeom prst="ellipse">
            <a:avLst/>
          </a:prstGeom>
          <a:solidFill>
            <a:srgbClr val="8892A6">
              <a:alpha val="43242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1875" y="1867415"/>
            <a:ext cx="109209" cy="109209"/>
          </a:xfrm>
          <a:prstGeom prst="ellipse">
            <a:avLst/>
          </a:prstGeom>
          <a:solidFill>
            <a:srgbClr val="A4243B">
              <a:alpha val="55693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3446" y="5257442"/>
            <a:ext cx="61341" cy="61341"/>
          </a:xfrm>
          <a:prstGeom prst="ellipse">
            <a:avLst/>
          </a:prstGeom>
          <a:solidFill>
            <a:srgbClr val="2E5A87">
              <a:alpha val="5758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2210" y="5634847"/>
            <a:ext cx="90409" cy="90409"/>
          </a:xfrm>
          <a:prstGeom prst="ellipse">
            <a:avLst/>
          </a:prstGeom>
          <a:solidFill>
            <a:srgbClr val="8892A6">
              <a:alpha val="73877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51078" y="5143946"/>
            <a:ext cx="73584" cy="73584"/>
          </a:xfrm>
          <a:prstGeom prst="ellipse">
            <a:avLst/>
          </a:prstGeom>
          <a:solidFill>
            <a:srgbClr val="A4243B">
              <a:alpha val="60771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59282" y="5652626"/>
            <a:ext cx="79634" cy="79634"/>
          </a:xfrm>
          <a:prstGeom prst="ellipse">
            <a:avLst/>
          </a:prstGeom>
          <a:solidFill>
            <a:srgbClr val="2E5A87">
              <a:alpha val="72334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0163" y="3423818"/>
            <a:ext cx="112509" cy="112509"/>
          </a:xfrm>
          <a:prstGeom prst="ellipse">
            <a:avLst/>
          </a:prstGeom>
          <a:solidFill>
            <a:srgbClr val="8892A6">
              <a:alpha val="74509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08122" y="4020830"/>
            <a:ext cx="114332" cy="114332"/>
          </a:xfrm>
          <a:prstGeom prst="ellipse">
            <a:avLst/>
          </a:prstGeom>
          <a:solidFill>
            <a:srgbClr val="A4243B">
              <a:alpha val="62761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1712" y="623628"/>
            <a:ext cx="127118" cy="127118"/>
          </a:xfrm>
          <a:prstGeom prst="ellipse">
            <a:avLst/>
          </a:prstGeom>
          <a:solidFill>
            <a:srgbClr val="2E5A87">
              <a:alpha val="7167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9906" y="5535094"/>
            <a:ext cx="56398" cy="56398"/>
          </a:xfrm>
          <a:prstGeom prst="ellipse">
            <a:avLst/>
          </a:prstGeom>
          <a:solidFill>
            <a:srgbClr val="8892A6">
              <a:alpha val="42600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4688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Pilocytic astrocytoma: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MAPK driver organizes the microenvironment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Imputing a whole transcriptome in situ with ENVI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Xenium measures ~266 genes; ENVI co-embeds matched single-nucleus whole-transcriptome PA data.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imputes genome-wide expression onto each spatial cell, so we can score pathway activity (e.g. MAPK) in place.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 patients, four driver alterations.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0" y="1783080"/>
            <a:ext cx="502920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 w="15875">
            <a:solidFill>
              <a:srgbClr val="D5DBE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0" y="1783080"/>
            <a:ext cx="5029200" cy="4023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paste figure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 co-embedding schematic
</a:t>
            </a:r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sc_integration/ENVI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MAPK activity is concentrated in the tumor glial lineage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MAPK activity concentrates in OPCs and astrocytes across all four drivers.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Myeloid, lymphoid, and stromal cells are consistently MAPK-low.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0" y="178308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 w="15875">
            <a:solidFill>
              <a:srgbClr val="D5DBE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0" y="1783080"/>
            <a:ext cx="5212080" cy="4023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paste figure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MAPK activity: patient × cell type (heatmap)
</a:t>
            </a:r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2_MAPK_adj.qmd · mapk_patient_cell_type_significance.tsv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MAPK-high glia sit among more myeloid cells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0" y="178308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 w="15875">
            <a:solidFill>
              <a:srgbClr val="D5DBE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0" y="1783080"/>
            <a:ext cx="5212080" cy="4023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paste figure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composition vs. MAPK (volcano)
</a:t>
            </a:r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2_MAPK_adj.qmd · mapk_adj_results.tsv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glial cell's MAPK score rises, its neighborhood gains more myeloid cells (Astro→Myeloid +0.030, z≈19).</a:t>
            </a:r>
            <a:endParaRPr lang="en-US" sz="20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but highly consistent across cells and patients.</a:t>
            </a:r>
            <a:endParaRPr lang="en-US" sz="20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the PA axis where microglia/myeloid recruitment enables bypass of BRAF-fusion senescence.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Proximity to MAPK-high glia reprograms myeloid programs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0" y="178308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 w="15875">
            <a:solidFill>
              <a:srgbClr val="D5DBE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0" y="1783080"/>
            <a:ext cx="5212080" cy="4023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paste figure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Glial-exposure effect on myeloid signatures (heatmap)
</a:t>
            </a:r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2_MAPK_adj.qmd · myeloid_glial_exposure_part[A/B]_results.tsv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 cells near MAPK-high glia show a shifted immunoactivation ↔ immunosuppression balance.</a:t>
            </a:r>
            <a:endParaRPr lang="en-US" sz="20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span Hallmark IFN / inflammatory, TIM3± microglia, complement / scavenger, FOSL2 regulon.</a:t>
            </a:r>
            <a:endParaRPr lang="en-US" sz="20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within patients; small effect (R²≈1%). Emerging.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niches are molecular, not morphological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 w="15875">
            <a:solidFill>
              <a:srgbClr val="D5DBE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paste figure
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STalign registration + niche × region (forest)
</a:t>
            </a:r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annotations/STalign · linear_models_niches.qmd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55080" y="1874520"/>
            <a:ext cx="5257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Pathologist H&amp;E regions registered to Xenium via STalign.</a:t>
            </a:r>
            <a:endParaRPr lang="en-US" sz="20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vascular Blood region robustly marks niches (PA niches 9 &amp; 12).</a:t>
            </a:r>
            <a:endParaRPr lang="en-US" sz="20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architecture regions do not — so niches add information beyond the H&amp;E.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driver shapes the spatial immune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MAPK driver
</a:t>
            </a:r>
            <a:endParaRPr lang="en-US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3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05072" y="2468880"/>
            <a:ext cx="49377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0" y="17830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783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Glial lineage
</a:t>
            </a:r>
            <a:endParaRPr lang="en-US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/ astrocyte state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28432" y="2468880"/>
            <a:ext cx="49377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0" y="17830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783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organization
</a:t>
            </a:r>
            <a:endParaRPr lang="en-US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myeloid recruitment + reprogramming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histology's dominant spatial signature matches its expected cell-of-origin.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PA, the driver is glial-restricted and organizes the myeloid compartment.</a:t>
            </a:r>
            <a:endParaRPr lang="en-US" sz="22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niches carry information beyond histopathology.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6692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3F5F8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in-situ pipeline across four rare tumors.</a:t>
            </a:r>
            <a:endParaRPr lang="en-US" sz="17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Histology-specific cellular &amp; niche architecture matching known biology.</a:t>
            </a:r>
            <a:endParaRPr lang="en-US" sz="17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PA, MAPK-driven glial–immune crosstalk, seen spatially.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99632" y="182880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BF2F3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73952" y="2514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11, confounded and underpowered — read direction, not p-values.</a:t>
            </a:r>
            <a:endParaRPr lang="en-US" sz="16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Sample-private niches unconfirmed (inferCNV).</a:t>
            </a:r>
            <a:endParaRPr lang="en-US" sz="16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↔ pathology correspondence weak beyond vasculature.</a:t>
            </a:r>
            <a:endParaRPr lang="en-US" sz="16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 / MAPK deep dive is PA-only so far.</a:t>
            </a:r>
            <a:endParaRPr lang="en-US" sz="1600" dirty="0"/>
          </a:p>
          <a:p>
            <a:pPr marL="254000" indent="-2540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inferCNV, cohort expansion, extend to GG / CN / CLN.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91939" y="2460774"/>
            <a:ext cx="82010" cy="82010"/>
          </a:xfrm>
          <a:prstGeom prst="ellipse">
            <a:avLst/>
          </a:prstGeom>
          <a:solidFill>
            <a:srgbClr val="A4243B">
              <a:alpha val="39934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17024" y="3030165"/>
            <a:ext cx="81326" cy="81326"/>
          </a:xfrm>
          <a:prstGeom prst="ellipse">
            <a:avLst/>
          </a:prstGeom>
          <a:solidFill>
            <a:srgbClr val="2E5A87">
              <a:alpha val="55687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8080" y="2602315"/>
            <a:ext cx="106631" cy="106631"/>
          </a:xfrm>
          <a:prstGeom prst="ellipse">
            <a:avLst/>
          </a:prstGeom>
          <a:solidFill>
            <a:srgbClr val="8892A6">
              <a:alpha val="59371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197" y="5980229"/>
            <a:ext cx="96045" cy="96045"/>
          </a:xfrm>
          <a:prstGeom prst="ellipse">
            <a:avLst/>
          </a:prstGeom>
          <a:solidFill>
            <a:srgbClr val="A4243B">
              <a:alpha val="39778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34428" y="833973"/>
            <a:ext cx="110413" cy="110413"/>
          </a:xfrm>
          <a:prstGeom prst="ellipse">
            <a:avLst/>
          </a:prstGeom>
          <a:solidFill>
            <a:srgbClr val="2E5A87">
              <a:alpha val="49412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7246" y="5218104"/>
            <a:ext cx="49361" cy="49361"/>
          </a:xfrm>
          <a:prstGeom prst="ellipse">
            <a:avLst/>
          </a:prstGeom>
          <a:solidFill>
            <a:srgbClr val="8892A6">
              <a:alpha val="53818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44621" y="4219783"/>
            <a:ext cx="59235" cy="59235"/>
          </a:xfrm>
          <a:prstGeom prst="ellipse">
            <a:avLst/>
          </a:prstGeom>
          <a:solidFill>
            <a:srgbClr val="A4243B">
              <a:alpha val="74865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88888" y="2107634"/>
            <a:ext cx="79645" cy="79645"/>
          </a:xfrm>
          <a:prstGeom prst="ellipse">
            <a:avLst/>
          </a:prstGeom>
          <a:solidFill>
            <a:srgbClr val="2E5A87">
              <a:alpha val="46246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290" y="3938025"/>
            <a:ext cx="98576" cy="98576"/>
          </a:xfrm>
          <a:prstGeom prst="ellipse">
            <a:avLst/>
          </a:prstGeom>
          <a:solidFill>
            <a:srgbClr val="8892A6">
              <a:alpha val="61675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04813" y="4424801"/>
            <a:ext cx="117553" cy="117553"/>
          </a:xfrm>
          <a:prstGeom prst="ellipse">
            <a:avLst/>
          </a:prstGeom>
          <a:solidFill>
            <a:srgbClr val="A4243B">
              <a:alpha val="41258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38210" y="2000393"/>
            <a:ext cx="78546" cy="78546"/>
          </a:xfrm>
          <a:prstGeom prst="ellipse">
            <a:avLst/>
          </a:prstGeom>
          <a:solidFill>
            <a:srgbClr val="2E5A87">
              <a:alpha val="77328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5203" y="5638595"/>
            <a:ext cx="71583" cy="71583"/>
          </a:xfrm>
          <a:prstGeom prst="ellipse">
            <a:avLst/>
          </a:prstGeom>
          <a:solidFill>
            <a:srgbClr val="8892A6">
              <a:alpha val="56548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63911" y="2795628"/>
            <a:ext cx="118668" cy="118668"/>
          </a:xfrm>
          <a:prstGeom prst="ellipse">
            <a:avLst/>
          </a:prstGeom>
          <a:solidFill>
            <a:srgbClr val="A4243B">
              <a:alpha val="74745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3417" y="1354653"/>
            <a:ext cx="80793" cy="80793"/>
          </a:xfrm>
          <a:prstGeom prst="ellipse">
            <a:avLst/>
          </a:prstGeom>
          <a:solidFill>
            <a:srgbClr val="2E5A87">
              <a:alpha val="4081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26" y="5123612"/>
            <a:ext cx="100887" cy="100887"/>
          </a:xfrm>
          <a:prstGeom prst="ellipse">
            <a:avLst/>
          </a:prstGeom>
          <a:solidFill>
            <a:srgbClr val="8892A6">
              <a:alpha val="74874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80013" y="3484371"/>
            <a:ext cx="102461" cy="102461"/>
          </a:xfrm>
          <a:prstGeom prst="ellipse">
            <a:avLst/>
          </a:prstGeom>
          <a:solidFill>
            <a:srgbClr val="A4243B">
              <a:alpha val="78083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32519" y="1091821"/>
            <a:ext cx="108343" cy="108343"/>
          </a:xfrm>
          <a:prstGeom prst="ellipse">
            <a:avLst/>
          </a:prstGeom>
          <a:solidFill>
            <a:srgbClr val="2E5A87">
              <a:alpha val="7949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27920" y="3987681"/>
            <a:ext cx="120201" cy="120201"/>
          </a:xfrm>
          <a:prstGeom prst="ellipse">
            <a:avLst/>
          </a:prstGeom>
          <a:solidFill>
            <a:srgbClr val="8892A6">
              <a:alpha val="50725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67458" y="3236589"/>
            <a:ext cx="79444" cy="79444"/>
          </a:xfrm>
          <a:prstGeom prst="ellipse">
            <a:avLst/>
          </a:prstGeom>
          <a:solidFill>
            <a:srgbClr val="A4243B">
              <a:alpha val="47232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27180" y="2584912"/>
            <a:ext cx="46779" cy="46779"/>
          </a:xfrm>
          <a:prstGeom prst="ellipse">
            <a:avLst/>
          </a:prstGeom>
          <a:solidFill>
            <a:srgbClr val="2E5A87">
              <a:alpha val="58758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2391" y="1756640"/>
            <a:ext cx="77653" cy="77653"/>
          </a:xfrm>
          <a:prstGeom prst="ellipse">
            <a:avLst/>
          </a:prstGeom>
          <a:solidFill>
            <a:srgbClr val="8892A6">
              <a:alpha val="53622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67347" y="3304431"/>
            <a:ext cx="78330" cy="78330"/>
          </a:xfrm>
          <a:prstGeom prst="ellipse">
            <a:avLst/>
          </a:prstGeom>
          <a:solidFill>
            <a:srgbClr val="A4243B">
              <a:alpha val="48026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87606" y="4647167"/>
            <a:ext cx="93430" cy="93430"/>
          </a:xfrm>
          <a:prstGeom prst="ellipse">
            <a:avLst/>
          </a:prstGeom>
          <a:solidFill>
            <a:srgbClr val="2E5A87">
              <a:alpha val="49942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65227" y="2885106"/>
            <a:ext cx="89462" cy="89462"/>
          </a:xfrm>
          <a:prstGeom prst="ellipse">
            <a:avLst/>
          </a:prstGeom>
          <a:solidFill>
            <a:srgbClr val="8892A6">
              <a:alpha val="57670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5226" y="1632500"/>
            <a:ext cx="123405" cy="123405"/>
          </a:xfrm>
          <a:prstGeom prst="ellipse">
            <a:avLst/>
          </a:prstGeom>
          <a:solidFill>
            <a:srgbClr val="A4243B">
              <a:alpha val="76497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3838" y="1320325"/>
            <a:ext cx="118078" cy="118078"/>
          </a:xfrm>
          <a:prstGeom prst="ellipse">
            <a:avLst/>
          </a:prstGeom>
          <a:solidFill>
            <a:srgbClr val="2E5A87">
              <a:alpha val="5929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97868" y="4518585"/>
            <a:ext cx="109808" cy="109808"/>
          </a:xfrm>
          <a:prstGeom prst="ellipse">
            <a:avLst/>
          </a:prstGeom>
          <a:solidFill>
            <a:srgbClr val="8892A6">
              <a:alpha val="47305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1587" y="5351191"/>
            <a:ext cx="93364" cy="93364"/>
          </a:xfrm>
          <a:prstGeom prst="ellipse">
            <a:avLst/>
          </a:prstGeom>
          <a:solidFill>
            <a:srgbClr val="A4243B">
              <a:alpha val="56413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39766" y="3625397"/>
            <a:ext cx="46992" cy="46992"/>
          </a:xfrm>
          <a:prstGeom prst="ellipse">
            <a:avLst/>
          </a:prstGeom>
          <a:solidFill>
            <a:srgbClr val="2E5A87">
              <a:alpha val="75319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5841" y="4662669"/>
            <a:ext cx="74743" cy="74743"/>
          </a:xfrm>
          <a:prstGeom prst="ellipse">
            <a:avLst/>
          </a:prstGeom>
          <a:solidFill>
            <a:srgbClr val="8892A6">
              <a:alpha val="79514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7675" y="3418661"/>
            <a:ext cx="94639" cy="94639"/>
          </a:xfrm>
          <a:prstGeom prst="ellipse">
            <a:avLst/>
          </a:prstGeom>
          <a:solidFill>
            <a:srgbClr val="A4243B">
              <a:alpha val="39542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64769" y="709725"/>
            <a:ext cx="60489" cy="60489"/>
          </a:xfrm>
          <a:prstGeom prst="ellipse">
            <a:avLst/>
          </a:prstGeom>
          <a:solidFill>
            <a:srgbClr val="2E5A87">
              <a:alpha val="70184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05890" y="3621936"/>
            <a:ext cx="116591" cy="116591"/>
          </a:xfrm>
          <a:prstGeom prst="ellipse">
            <a:avLst/>
          </a:prstGeom>
          <a:solidFill>
            <a:srgbClr val="8892A6">
              <a:alpha val="69553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36509" y="5471905"/>
            <a:ext cx="105708" cy="105708"/>
          </a:xfrm>
          <a:prstGeom prst="ellipse">
            <a:avLst/>
          </a:prstGeom>
          <a:solidFill>
            <a:srgbClr val="A4243B">
              <a:alpha val="57196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02970" y="1595536"/>
            <a:ext cx="119750" cy="119750"/>
          </a:xfrm>
          <a:prstGeom prst="ellipse">
            <a:avLst/>
          </a:prstGeom>
          <a:solidFill>
            <a:srgbClr val="2E5A87">
              <a:alpha val="70374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36291" y="4716257"/>
            <a:ext cx="104850" cy="104850"/>
          </a:xfrm>
          <a:prstGeom prst="ellipse">
            <a:avLst/>
          </a:prstGeom>
          <a:solidFill>
            <a:srgbClr val="8892A6">
              <a:alpha val="64567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832" y="794782"/>
            <a:ext cx="115136" cy="115136"/>
          </a:xfrm>
          <a:prstGeom prst="ellipse">
            <a:avLst/>
          </a:prstGeom>
          <a:solidFill>
            <a:srgbClr val="A4243B">
              <a:alpha val="76841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13028" y="4430482"/>
            <a:ext cx="86712" cy="86712"/>
          </a:xfrm>
          <a:prstGeom prst="ellipse">
            <a:avLst/>
          </a:prstGeom>
          <a:solidFill>
            <a:srgbClr val="2E5A87">
              <a:alpha val="59487"/>
            </a:srgbClr>
          </a:solidFill>
          <a:ln w="6350">
            <a:solidFill>
              <a:srgbClr val="2E5A87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89805" y="2274801"/>
            <a:ext cx="69123" cy="69123"/>
          </a:xfrm>
          <a:prstGeom prst="ellipse">
            <a:avLst/>
          </a:prstGeom>
          <a:solidFill>
            <a:srgbClr val="8892A6">
              <a:alpha val="79106"/>
            </a:srgbClr>
          </a:solidFill>
          <a:ln w="6350">
            <a:solidFill>
              <a:srgbClr val="8892A6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30608" y="4746165"/>
            <a:ext cx="94802" cy="94802"/>
          </a:xfrm>
          <a:prstGeom prst="ellipse">
            <a:avLst/>
          </a:prstGeom>
          <a:solidFill>
            <a:srgbClr val="A4243B">
              <a:alpha val="40844"/>
            </a:srgbClr>
          </a:solidFill>
          <a:ln w="6350">
            <a:solidFill>
              <a:srgbClr val="A4243B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1463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</a:t>
            </a:r>
            <a:endParaRPr lang="en-US" sz="3600" dirty="0"/>
          </a:p>
        </p:txBody>
      </p:sp>
      <p:sp>
        <p:nvSpPr>
          <p:cNvPr id="43" name="Shape 41"/>
          <p:cNvSpPr/>
          <p:nvPr/>
        </p:nvSpPr>
        <p:spPr>
          <a:xfrm>
            <a:off x="777240" y="2770632"/>
            <a:ext cx="137160" cy="137160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   </a:t>
            </a:r>
            <a:pPr indent="0" marL="0">
              <a:buNone/>
            </a:pPr>
            <a:r>
              <a:rPr lang="en-US" sz="15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[names / labs]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77240" y="3611880"/>
            <a:ext cx="137160" cy="137160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3538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Neuropathology   </a:t>
            </a:r>
            <a:pPr indent="0" marL="0">
              <a:buNone/>
            </a:pPr>
            <a:r>
              <a:rPr lang="en-US" sz="15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[pathologist(s)]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777240" y="4453128"/>
            <a:ext cx="137160" cy="137160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43799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Single-nucleus data   </a:t>
            </a:r>
            <a:pPr indent="0" marL="0">
              <a:buNone/>
            </a:pPr>
            <a:r>
              <a:rPr lang="en-US" sz="15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[contributors]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777240" y="5294376"/>
            <a:ext cx="137160" cy="137160"/>
          </a:xfrm>
          <a:prstGeom prst="ellipse">
            <a:avLst/>
          </a:prstGeom>
          <a:solidFill>
            <a:srgbClr val="A4243B"/>
          </a:solidFill>
          <a:ln w="6350">
            <a:solidFill>
              <a:srgbClr val="A424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52212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  </a:t>
            </a:r>
            <a:pPr indent="0" marL="0">
              <a:buNone/>
            </a:pPr>
            <a:r>
              <a:rPr lang="en-US" sz="15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[grants]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4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Architecture of Pediatric Brain Tumors</dc:title>
  <dc:subject>PptxGenJS Presentation</dc:subject>
  <dc:creator>Peter Youyun Zheng</dc:creator>
  <cp:lastModifiedBy>Peter Youyun Zheng</cp:lastModifiedBy>
  <cp:revision>1</cp:revision>
  <dcterms:created xsi:type="dcterms:W3CDTF">2026-09-03T17:38:43Z</dcterms:created>
  <dcterms:modified xsi:type="dcterms:W3CDTF">2026-09-03T17:38:43Z</dcterms:modified>
</cp:coreProperties>
</file>